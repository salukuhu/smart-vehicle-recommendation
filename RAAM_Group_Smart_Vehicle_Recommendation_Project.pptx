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58200" y="0"/>
            <a:ext cx="3749039" cy="6858000"/>
          </a:xfrm>
          <a:prstGeom prst="rect">
            <a:avLst/>
          </a:prstGeom>
          <a:solidFill>
            <a:srgbClr val="28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914400" cy="914400"/>
          </a:xfrm>
          <a:prstGeom prst="ellipse">
            <a:avLst/>
          </a:prstGeom>
          <a:solidFill>
            <a:srgbClr val="00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2011680"/>
            <a:ext cx="502920" cy="502920"/>
          </a:xfrm>
          <a:prstGeom prst="ellipse">
            <a:avLst/>
          </a:prstGeom>
          <a:solidFill>
            <a:srgbClr val="F0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3657600"/>
            <a:ext cx="1371600" cy="1371600"/>
          </a:xfrm>
          <a:prstGeom prst="ellipse">
            <a:avLst/>
          </a:prstGeom>
          <a:solidFill>
            <a:srgbClr val="428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937760"/>
            <a:ext cx="731520" cy="731520"/>
          </a:xfrm>
          <a:prstGeom prst="ellipse">
            <a:avLst/>
          </a:prstGeom>
          <a:solidFill>
            <a:srgbClr val="00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0" y="5577840"/>
            <a:ext cx="365760" cy="365760"/>
          </a:xfrm>
          <a:prstGeom prst="ellipse">
            <a:avLst/>
          </a:prstGeom>
          <a:solidFill>
            <a:srgbClr val="F0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8580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8CE0DC"/>
                </a:solidFill>
                <a:latin typeface="Aptos"/>
              </a:defRPr>
            </a:pPr>
            <a:r>
              <a:t>PRODUCT DEVELOPMENT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73152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Smart Vehicle</a:t>
            </a:r>
            <a:br/>
            <a:r>
              <a:t>Recommendation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46120"/>
            <a:ext cx="70408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0">
                <a:solidFill>
                  <a:srgbClr val="E1EAF2"/>
                </a:solidFill>
                <a:latin typeface="Aptos"/>
              </a:defRPr>
            </a:pPr>
            <a:r>
              <a:t>A customer-first concept for a simpler automotive buying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63440"/>
            <a:ext cx="3931920" cy="475488"/>
          </a:xfrm>
          <a:prstGeom prst="roundRect">
            <a:avLst/>
          </a:prstGeom>
          <a:solidFill>
            <a:srgbClr val="00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45736"/>
            <a:ext cx="36576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Prepared for RAAM Group | Management Trainee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08076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BECCDA"/>
                </a:solidFill>
                <a:latin typeface="Aptos"/>
              </a:defRPr>
            </a:pPr>
            <a:r>
              <a:t>Concept proposal • Illustrative data • Not an existing RAAM Group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3243D"/>
                </a:solidFill>
                <a:latin typeface="Aptos"/>
              </a:defRPr>
            </a:pPr>
            <a:r>
              <a:t>1. Customer problem and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00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D6C7E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52120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13243D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120640" cy="347472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32C38"/>
                </a:solidFill>
                <a:latin typeface="Aptos"/>
              </a:defRPr>
            </a:pPr>
            <a:r>
              <a:t>Buyers compare many models, features, and ownership costs.</a:t>
            </a:r>
          </a:p>
          <a:p>
            <a:pPr>
              <a:spcAft>
                <a:spcPts val="1500"/>
              </a:spcAft>
              <a:defRPr sz="1800">
                <a:solidFill>
                  <a:srgbClr val="232C38"/>
                </a:solidFill>
                <a:latin typeface="Aptos"/>
              </a:defRPr>
            </a:pPr>
            <a:r>
              <a:t>A showroom conversation may not capture every customer priority consistently.</a:t>
            </a:r>
          </a:p>
          <a:p>
            <a:pPr>
              <a:spcAft>
                <a:spcPts val="1500"/>
              </a:spcAft>
              <a:defRPr sz="1800">
                <a:solidFill>
                  <a:srgbClr val="232C38"/>
                </a:solidFill>
                <a:latin typeface="Aptos"/>
              </a:defRPr>
            </a:pPr>
            <a:r>
              <a:t>Customers may need clearer guidance before deciding which vehicles to explore.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166360" cy="1234440"/>
          </a:xfrm>
          <a:prstGeom prst="roundRect">
            <a:avLst/>
          </a:prstGeom>
          <a:solidFill>
            <a:srgbClr val="E0F4F2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008F8C"/>
                </a:solidFill>
                <a:latin typeface="Aptos Display"/>
              </a:defRPr>
            </a:pPr>
            <a:r>
              <a:t>Target users</a:t>
            </a:r>
          </a:p>
          <a:p>
            <a:pPr>
              <a:defRPr sz="1500">
                <a:solidFill>
                  <a:srgbClr val="232C38"/>
                </a:solidFill>
                <a:latin typeface="Aptos"/>
              </a:defRPr>
            </a:pPr>
            <a:r>
              <a:t>First-time buyers, families, commuters, and customers comparing petrol, hybrid, or electric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97480"/>
            <a:ext cx="5166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Proposed opportunity</a:t>
            </a:r>
          </a:p>
          <a:p>
            <a:pPr>
              <a:defRPr sz="1500">
                <a:solidFill>
                  <a:srgbClr val="232C38"/>
                </a:solidFill>
                <a:latin typeface="Aptos"/>
              </a:defRPr>
            </a:pPr>
            <a:r>
              <a:t>A short guided questionnaire that gives staff a consistent starting point for a personalized consultation.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60520"/>
            <a:ext cx="51663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Business fit</a:t>
            </a:r>
          </a:p>
          <a:p>
            <a:pPr>
              <a:defRPr sz="1500">
                <a:solidFill>
                  <a:srgbClr val="232C38"/>
                </a:solidFill>
                <a:latin typeface="Aptos"/>
              </a:defRPr>
            </a:pPr>
            <a:r>
              <a:t>RAAM Group represents multiple automotive brands and vehicle segments, making customer-led comparisons a relevant concept.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7E"/>
                </a:solidFill>
                <a:latin typeface="Aptos"/>
              </a:defRPr>
            </a:pPr>
            <a:r>
              <a:t>Research note: These are hypotheses to validate with customers and dealership staff—not verified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3243D"/>
                </a:solidFill>
                <a:latin typeface="Aptos"/>
              </a:defRPr>
            </a:pPr>
            <a:r>
              <a:t>2. Proposed product: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00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D6C7E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331720" cy="2468880"/>
          </a:xfrm>
          <a:prstGeom prst="roundRect">
            <a:avLst/>
          </a:prstGeom>
          <a:solidFill>
            <a:srgbClr val="E0F4F2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008F8C"/>
                </a:solidFill>
                <a:latin typeface="Aptos Display"/>
              </a:defRPr>
            </a:pPr>
            <a:r>
              <a:t>01  Capture needs</a:t>
            </a:r>
          </a:p>
          <a:p>
            <a:pPr>
              <a:defRPr sz="1500">
                <a:solidFill>
                  <a:srgbClr val="232C38"/>
                </a:solidFill>
                <a:latin typeface="Aptos"/>
              </a:defRPr>
            </a:pPr>
            <a:r>
              <a:t>Budget range</a:t>
            </a:r>
            <a:br/>
            <a:r>
              <a:t>Daily travel</a:t>
            </a:r>
            <a:br/>
            <a:r>
              <a:t>Family size</a:t>
            </a:r>
            <a:br/>
            <a:r>
              <a:t>Fuel preference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2487168"/>
            <a:ext cx="411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008F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600200"/>
            <a:ext cx="2331720" cy="246888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02  Apply filters</a:t>
            </a:r>
          </a:p>
          <a:p>
            <a:pPr>
              <a:defRPr sz="1500">
                <a:solidFill>
                  <a:srgbClr val="232C38"/>
                </a:solidFill>
                <a:latin typeface="Aptos"/>
              </a:defRPr>
            </a:pPr>
            <a:r>
              <a:t>Remove options outside budget</a:t>
            </a:r>
            <a:br/>
            <a:r>
              <a:t>Match vehicle type</a:t>
            </a:r>
            <a:br/>
            <a:r>
              <a:t>Consider running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79" y="2487168"/>
            <a:ext cx="411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008F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1656" y="1600200"/>
            <a:ext cx="2331720" cy="246888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03  Show shortlist</a:t>
            </a:r>
          </a:p>
          <a:p>
            <a:pPr>
              <a:defRPr sz="1500">
                <a:solidFill>
                  <a:srgbClr val="232C38"/>
                </a:solidFill>
                <a:latin typeface="Aptos"/>
              </a:defRPr>
            </a:pPr>
            <a:r>
              <a:t>Display 2–3 suitable options</a:t>
            </a:r>
            <a:br/>
            <a:r>
              <a:t>Explain key trade-offs</a:t>
            </a:r>
            <a:br/>
            <a:r>
              <a:t>Include verified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487168"/>
            <a:ext cx="411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008F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0304" y="1600200"/>
            <a:ext cx="2331720" cy="246888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04  Follow up</a:t>
            </a:r>
          </a:p>
          <a:p>
            <a:pPr>
              <a:defRPr sz="1500">
                <a:solidFill>
                  <a:srgbClr val="232C38"/>
                </a:solidFill>
                <a:latin typeface="Aptos"/>
              </a:defRPr>
            </a:pPr>
            <a:r>
              <a:t>Save customer preferences</a:t>
            </a:r>
            <a:br/>
            <a:r>
              <a:t>Offer a test drive</a:t>
            </a:r>
            <a:br/>
            <a:r>
              <a:t>Record next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3243D"/>
                </a:solidFill>
                <a:latin typeface="Aptos"/>
              </a:defRPr>
            </a:pPr>
            <a:r>
              <a:t>MVP (minimum viable product): a simple Excel/Google Sheets decision table—no app development required.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57800"/>
            <a:ext cx="10698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5D6C7E"/>
                </a:solidFill>
                <a:latin typeface="Aptos"/>
              </a:defRPr>
            </a:pPr>
            <a:r>
              <a:t>Guardrail: recommendations should use current, verified model specifications and on-road prices for the relevant city. A staff member confirms the final shortlist.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3243D"/>
                </a:solidFill>
                <a:latin typeface="Aptos"/>
              </a:defRPr>
            </a:pPr>
            <a:r>
              <a:t>3. Example customer journey (illustrative data)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00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D6C7E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743200" cy="1600200"/>
          </a:xfrm>
          <a:prstGeom prst="roundRect">
            <a:avLst/>
          </a:prstGeom>
          <a:solidFill>
            <a:srgbClr val="E0F4F2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008F8C"/>
                </a:solidFill>
                <a:latin typeface="Aptos Display"/>
              </a:defRPr>
            </a:pPr>
            <a:r>
              <a:t>Example customer</a:t>
            </a:r>
          </a:p>
          <a:p>
            <a:pPr>
              <a:defRPr sz="1400">
                <a:solidFill>
                  <a:srgbClr val="232C38"/>
                </a:solidFill>
                <a:latin typeface="Aptos"/>
              </a:defRPr>
            </a:pPr>
            <a:r>
              <a:t>Budget: ₹8–12 lakh</a:t>
            </a:r>
            <a:br/>
            <a:r>
              <a:t>Daily travel: 35 km</a:t>
            </a:r>
            <a:br/>
            <a:r>
              <a:t>Use: family + commute</a:t>
            </a:r>
            <a:br/>
            <a:r>
              <a:t>Preference: open to petrol/EV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70432"/>
            <a:ext cx="7589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3243D"/>
                </a:solidFill>
                <a:latin typeface="Aptos"/>
              </a:defRPr>
            </a:pPr>
            <a:r>
              <a:t>Illustrative shortlist logic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0" y="1600200"/>
          <a:ext cx="78181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965960"/>
                <a:gridCol w="2011680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Option type</a:t>
                      </a:r>
                    </a:p>
                  </a:txBody>
                  <a:tcPr marL="73152" marR="54864" marT="64008" marB="45720" anchor="ctr">
                    <a:solidFill>
                      <a:srgbClr val="13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Budget fit</a:t>
                      </a:r>
                    </a:p>
                  </a:txBody>
                  <a:tcPr marL="73152" marR="54864" marT="64008" marB="45720" anchor="ctr">
                    <a:solidFill>
                      <a:srgbClr val="13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Daily use fit</a:t>
                      </a:r>
                    </a:p>
                  </a:txBody>
                  <a:tcPr marL="73152" marR="54864" marT="64008" marB="45720" anchor="ctr">
                    <a:solidFill>
                      <a:srgbClr val="13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Next step</a:t>
                      </a:r>
                    </a:p>
                  </a:txBody>
                  <a:tcPr marL="73152" marR="54864" marT="64008" marB="45720" anchor="ctr">
                    <a:solidFill>
                      <a:srgbClr val="13243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Petrol hatchback</a:t>
                      </a:r>
                    </a:p>
                  </a:txBody>
                  <a:tcPr marL="73152" marR="54864" marT="64008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Check current price</a:t>
                      </a:r>
                    </a:p>
                  </a:txBody>
                  <a:tcPr marL="73152" marR="54864" marT="64008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Suitable for mixed use</a:t>
                      </a:r>
                    </a:p>
                  </a:txBody>
                  <a:tcPr marL="73152" marR="54864" marT="64008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Compare running cost</a:t>
                      </a:r>
                    </a:p>
                  </a:txBody>
                  <a:tcPr marL="73152" marR="54864" marT="64008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Compact SUV</a:t>
                      </a:r>
                    </a:p>
                  </a:txBody>
                  <a:tcPr marL="73152" marR="54864" marT="64008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May exceed budget</a:t>
                      </a:r>
                    </a:p>
                  </a:txBody>
                  <a:tcPr marL="73152" marR="54864" marT="64008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Family space</a:t>
                      </a:r>
                    </a:p>
                  </a:txBody>
                  <a:tcPr marL="73152" marR="54864" marT="64008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Check variant price</a:t>
                      </a:r>
                    </a:p>
                  </a:txBody>
                  <a:tcPr marL="73152" marR="54864" marT="64008" marB="45720" anchor="ctr">
                    <a:solidFill>
                      <a:srgbClr val="F2F6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Electric two-wheeler</a:t>
                      </a:r>
                    </a:p>
                  </a:txBody>
                  <a:tcPr marL="73152" marR="54864" marT="64008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Lower purchase cost</a:t>
                      </a:r>
                    </a:p>
                  </a:txBody>
                  <a:tcPr marL="73152" marR="54864" marT="64008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Short commute</a:t>
                      </a:r>
                    </a:p>
                  </a:txBody>
                  <a:tcPr marL="73152" marR="54864" marT="64008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C38"/>
                          </a:solidFill>
                          <a:latin typeface="Aptos"/>
                        </a:defRPr>
                      </a:pPr>
                      <a:r>
                        <a:t>Check charging access</a:t>
                      </a:r>
                    </a:p>
                  </a:txBody>
                  <a:tcPr marL="73152" marR="54864" marT="64008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38912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A65025"/>
                </a:solidFill>
                <a:latin typeface="Aptos"/>
              </a:defRPr>
            </a:pPr>
            <a:r>
              <a:t>Illustrative only: no actual model, price, range, mileage, or sales data is asserted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92040"/>
            <a:ext cx="51663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What the tool should output</a:t>
            </a:r>
          </a:p>
          <a:p>
            <a:pPr>
              <a:defRPr sz="1400">
                <a:solidFill>
                  <a:srgbClr val="232C38"/>
                </a:solidFill>
                <a:latin typeface="Aptos"/>
              </a:defRPr>
            </a:pPr>
            <a:r>
              <a:t>A ranked shortlist plus a reason for each match.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892040"/>
            <a:ext cx="51663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What staff should confirm</a:t>
            </a:r>
          </a:p>
          <a:p>
            <a:pPr>
              <a:defRPr sz="1400">
                <a:solidFill>
                  <a:srgbClr val="232C38"/>
                </a:solidFill>
                <a:latin typeface="Aptos"/>
              </a:defRPr>
            </a:pPr>
            <a:r>
              <a:t>Current variant, on-road price, availability, charging access, and customer priorities.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3243D"/>
                </a:solidFill>
                <a:latin typeface="Aptos"/>
              </a:defRPr>
            </a:pPr>
            <a:r>
              <a:t>4. Pilot plan, success measures and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4864"/>
          </a:xfrm>
          <a:prstGeom prst="rect">
            <a:avLst/>
          </a:prstGeom>
          <a:solidFill>
            <a:srgbClr val="00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D6C7E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520440" cy="1828800"/>
          </a:xfrm>
          <a:prstGeom prst="roundRect">
            <a:avLst/>
          </a:prstGeom>
          <a:solidFill>
            <a:srgbClr val="E0F4F2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008F8C"/>
                </a:solidFill>
                <a:latin typeface="Aptos Display"/>
              </a:defRPr>
            </a:pPr>
            <a:r>
              <a:t>Week 1: Understand</a:t>
            </a:r>
          </a:p>
          <a:p>
            <a:pPr>
              <a:defRPr sz="1400">
                <a:solidFill>
                  <a:srgbClr val="232C38"/>
                </a:solidFill>
                <a:latin typeface="Aptos"/>
              </a:defRPr>
            </a:pPr>
            <a:r>
              <a:t>Speak with a small sample of customers and sales staff. Map common questions and decision 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Week 2: Build</a:t>
            </a:r>
          </a:p>
          <a:p>
            <a:pPr>
              <a:defRPr sz="1400">
                <a:solidFill>
                  <a:srgbClr val="232C38"/>
                </a:solidFill>
                <a:latin typeface="Aptos"/>
              </a:defRPr>
            </a:pPr>
            <a:r>
              <a:t>Create a simple comparison sheet and customer questionnaire. Review the content with dealership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143000"/>
            <a:ext cx="35204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91440"/>
          <a:lstStyle/>
          <a:p>
            <a:pPr algn="ctr">
              <a:spcAft>
                <a:spcPts val="700"/>
              </a:spcAft>
              <a:defRPr sz="1600" b="1">
                <a:solidFill>
                  <a:srgbClr val="2869A0"/>
                </a:solidFill>
                <a:latin typeface="Aptos Display"/>
              </a:defRPr>
            </a:pPr>
            <a:r>
              <a:t>Week 3: Test</a:t>
            </a:r>
          </a:p>
          <a:p>
            <a:pPr>
              <a:defRPr sz="1400">
                <a:solidFill>
                  <a:srgbClr val="232C38"/>
                </a:solidFill>
                <a:latin typeface="Aptos"/>
              </a:defRPr>
            </a:pPr>
            <a:r>
              <a:t>Run a small supervised pilot. Collect feedback and compare consultation time and customer clarity.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3243D"/>
                </a:solidFill>
                <a:latin typeface="Aptos"/>
              </a:defRPr>
            </a:pPr>
            <a:r>
              <a:t>Pilot metrics to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5029200" cy="15087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C38"/>
                </a:solidFill>
                <a:latin typeface="Aptos"/>
              </a:defRPr>
            </a:pPr>
            <a:r>
              <a:t>Time to prepare a shortlist</a:t>
            </a:r>
          </a:p>
          <a:p>
            <a:pPr>
              <a:spcAft>
                <a:spcPts val="600"/>
              </a:spcAft>
              <a:defRPr sz="1500">
                <a:solidFill>
                  <a:srgbClr val="232C38"/>
                </a:solidFill>
                <a:latin typeface="Aptos"/>
              </a:defRPr>
            </a:pPr>
            <a:r>
              <a:t>Customer-rated clarity (1–5)</a:t>
            </a:r>
          </a:p>
          <a:p>
            <a:pPr>
              <a:spcAft>
                <a:spcPts val="600"/>
              </a:spcAft>
              <a:defRPr sz="1500">
                <a:solidFill>
                  <a:srgbClr val="232C38"/>
                </a:solidFill>
                <a:latin typeface="Aptos"/>
              </a:defRPr>
            </a:pPr>
            <a:r>
              <a:t>Test-drive interest and follow-up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3243D"/>
                </a:solidFill>
                <a:latin typeface="Aptos"/>
              </a:defRPr>
            </a:pPr>
            <a:r>
              <a:t>Potential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794760"/>
            <a:ext cx="5120640" cy="15087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C38"/>
                </a:solidFill>
                <a:latin typeface="Aptos"/>
              </a:defRPr>
            </a:pPr>
            <a:r>
              <a:t>More consistent customer conversations</a:t>
            </a:r>
          </a:p>
          <a:p>
            <a:pPr>
              <a:spcAft>
                <a:spcPts val="600"/>
              </a:spcAft>
              <a:defRPr sz="1500">
                <a:solidFill>
                  <a:srgbClr val="232C38"/>
                </a:solidFill>
                <a:latin typeface="Aptos"/>
              </a:defRPr>
            </a:pPr>
            <a:r>
              <a:t>Better capture of customer preferences</a:t>
            </a:r>
          </a:p>
          <a:p>
            <a:pPr>
              <a:spcAft>
                <a:spcPts val="600"/>
              </a:spcAft>
              <a:defRPr sz="1500">
                <a:solidFill>
                  <a:srgbClr val="232C38"/>
                </a:solidFill>
                <a:latin typeface="Aptos"/>
              </a:defRPr>
            </a:pPr>
            <a:r>
              <a:t>A clearer next step from enquiry to test drive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008F8C"/>
                </a:solidFill>
                <a:latin typeface="Aptos"/>
              </a:defRPr>
            </a:pPr>
            <a:r>
              <a:t>Recommendation: pilot at one outlet first; expand only if the data shows a useful improvement.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36208"/>
            <a:ext cx="10789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5D6C7E"/>
                </a:solidFill>
                <a:latin typeface="Aptos"/>
              </a:defRPr>
            </a:pPr>
            <a:r>
              <a:t>Company context: RAAM Group’s official website lists multiple automotive brands and dealership segments. Source: raamgroup.in/brands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Vehicle Recommendation System - RAAM Group Product Development Case Study</dc:title>
  <dc:subject>Five-slide product development concept for Management Trainee interview</dc:subject>
  <dc:creator>OpenAI</dc:creator>
  <cp:keywords>RAAM Group, product development, management trainee, automotive retail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